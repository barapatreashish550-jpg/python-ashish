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9E0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59E0B"/>
                </a:solidFill>
                <a:latin typeface="Arial"/>
              </a:rPr>
              <a:t>Pass Distribution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Balanced</c:v>
                  </c:pt>
                  <c:pt idx="1">
                    <c:v>Not Balanced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Not Balanced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Balanced</c:v>
                  </c:pt>
                  <c:pt idx="1">
                    <c:v>Not Balanced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76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D13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Relationship Id="rId7" Type="http://schemas.openxmlformats.org/officeDocument/2006/relationships/slide" Target="slide8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1.xml"/><Relationship Id="rId6" Type="http://schemas.openxmlformats.org/officeDocument/2006/relationships/slide" Target="slide3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4.xml"/><Relationship Id="rId1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1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3" Type="http://schemas.openxmlformats.org/officeDocument/2006/relationships/slide" Target="slide6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7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4" Type="http://schemas.openxmlformats.org/officeDocument/2006/relationships/slide" Target="slide8.xml"/><Relationship Id="rId2" Type="http://schemas.openxmlformats.org/officeDocument/2006/relationships/chart" Target="/ppt/charts/chart1.xml"/><Relationship Id="rId1" Type="http://schemas.openxmlformats.org/officeDocument/2006/relationships/image" Target="../media/image-7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4114800" cy="4114800"/>
          </a:xfrm>
          <a:prstGeom prst="ellipse">
            <a:avLst/>
          </a:prstGeom>
          <a:solidFill>
            <a:srgbClr val="1A1F5E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560320"/>
            <a:ext cx="3200400" cy="3200400"/>
          </a:xfrm>
          <a:prstGeom prst="ellipse">
            <a:avLst/>
          </a:prstGeom>
          <a:solidFill>
            <a:srgbClr val="1A1F5E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1097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0EA5E9">
                    <a:alpha val="45000"/>
                  </a:srgbClr>
                </a:solidFill>
              </a:rPr>
              <a:t>{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7498080" y="731520"/>
            <a:ext cx="10972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F59E0B">
                    <a:alpha val="45000"/>
                  </a:srgbClr>
                </a:solidFill>
              </a:rPr>
              <a:t>}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1463040" y="914400"/>
            <a:ext cx="6217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STACK-BASED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280160" y="15544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Parenthesis Checker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463040" y="22402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Project using Stack Data 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2788920"/>
            <a:ext cx="1234440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2788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931920" y="2788920"/>
            <a:ext cx="1234440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931920" y="2788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394960" y="2788920"/>
            <a:ext cx="1234440" cy="475488"/>
          </a:xfrm>
          <a:prstGeom prst="roundRect">
            <a:avLst>
              <a:gd name="adj" fmla="val 19231"/>
            </a:avLst>
          </a:prstGeom>
          <a:solidFill>
            <a:srgbClr val="84CC16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0" y="278892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3493008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SECTION TO JUMP DIRECTLY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>
            <a:hlinkClick r:id="rId1" tooltip="" action="ppaction://hlinksldjump"/>
          </p:cNvPr>
          <p:cNvSpPr/>
          <p:nvPr/>
        </p:nvSpPr>
        <p:spPr>
          <a:xfrm>
            <a:off x="457200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Problem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64208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>
            <a:hlinkClick r:id="rId2" tooltip="" action="ppaction://hlinksldjump"/>
          </p:cNvPr>
          <p:cNvSpPr/>
          <p:nvPr/>
        </p:nvSpPr>
        <p:spPr>
          <a:xfrm>
            <a:off x="1664208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Stack DS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71216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>
            <a:hlinkClick r:id="rId3" tooltip="" action="ppaction://hlinksldjump"/>
          </p:cNvPr>
          <p:cNvSpPr/>
          <p:nvPr/>
        </p:nvSpPr>
        <p:spPr>
          <a:xfrm>
            <a:off x="2871216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Algorithm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078224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>
            <a:hlinkClick r:id="rId4" tooltip="" action="ppaction://hlinksldjump"/>
          </p:cNvPr>
          <p:cNvSpPr/>
          <p:nvPr/>
        </p:nvSpPr>
        <p:spPr>
          <a:xfrm>
            <a:off x="4078224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85232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>
            <a:hlinkClick r:id="rId5" tooltip="" action="ppaction://hlinksldjump"/>
          </p:cNvPr>
          <p:cNvSpPr/>
          <p:nvPr/>
        </p:nvSpPr>
        <p:spPr>
          <a:xfrm>
            <a:off x="5285232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Walkthrough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92240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>
            <a:hlinkClick r:id="rId6" tooltip="" action="ppaction://hlinksldjump"/>
          </p:cNvPr>
          <p:cNvSpPr/>
          <p:nvPr/>
        </p:nvSpPr>
        <p:spPr>
          <a:xfrm>
            <a:off x="6492240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Test Cases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99248" y="3840480"/>
            <a:ext cx="1115568" cy="347472"/>
          </a:xfrm>
          <a:prstGeom prst="roundRect">
            <a:avLst>
              <a:gd name="adj" fmla="val 21053"/>
            </a:avLst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>
            <a:hlinkClick r:id="rId7" tooltip="" action="ppaction://hlinksldjump"/>
          </p:cNvPr>
          <p:cNvSpPr/>
          <p:nvPr/>
        </p:nvSpPr>
        <p:spPr>
          <a:xfrm>
            <a:off x="7699248" y="3840480"/>
            <a:ext cx="1115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hlinkClick r:id="rId7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Summary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F2055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Data Structures  |  Stack Algorithm  |  O(n) Time Complexity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we solving?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78992"/>
            <a:ext cx="8412480" cy="1024128"/>
          </a:xfrm>
          <a:prstGeom prst="rect">
            <a:avLst/>
          </a:prstGeom>
          <a:solidFill>
            <a:srgbClr val="1A1F5E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78992"/>
            <a:ext cx="137160" cy="10241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115568"/>
            <a:ext cx="7955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any expression, verify that parentheses ( ), brackets [ ] and braces { } are correctly matched — every opener has a corresponding closer, in the correct order.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2331720"/>
            <a:ext cx="2697480" cy="73152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487168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" y="31272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02920" y="34930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({[]}) → Every opener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valid closer.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46120" y="23317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46120" y="2331720"/>
            <a:ext cx="269748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487168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46120" y="31272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Mismatch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383280" y="34930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({)   → Opener &amp;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don't match.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26480" y="2331720"/>
            <a:ext cx="269748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26480" y="2331720"/>
            <a:ext cx="2697480" cy="7315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487168"/>
            <a:ext cx="594360" cy="5943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126480" y="3127248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Unclosed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263640" y="3493008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((( → Openers left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stack at the end.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36576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0">
            <a:hlinkClick r:id="rId5" tooltip="" action="ppaction://hlinksldjump"/>
          </p:cNvPr>
          <p:cNvSpPr/>
          <p:nvPr/>
        </p:nvSpPr>
        <p:spPr>
          <a:xfrm>
            <a:off x="365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Home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40664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>
            <a:hlinkClick r:id="rId6" tooltip="" action="ppaction://hlinksldjump"/>
          </p:cNvPr>
          <p:cNvSpPr/>
          <p:nvPr/>
        </p:nvSpPr>
        <p:spPr>
          <a:xfrm>
            <a:off x="740664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6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Stack DS &gt;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Data Structure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— Last In, First Out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188720"/>
            <a:ext cx="2560320" cy="713232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06324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 (last pushed)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993392"/>
            <a:ext cx="2560320" cy="713232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65760" y="2798064"/>
            <a:ext cx="2560320" cy="713232"/>
          </a:xfrm>
          <a:prstGeom prst="rect">
            <a:avLst/>
          </a:prstGeom>
          <a:solidFill>
            <a:srgbClr val="4FC3F7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65760" y="2798064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365760" y="3602736"/>
            <a:ext cx="2560320" cy="713232"/>
          </a:xfrm>
          <a:prstGeom prst="rect">
            <a:avLst/>
          </a:prstGeom>
          <a:solidFill>
            <a:srgbClr val="2D3A6B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3602736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13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3063240" y="38313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(first pushed)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999232" y="1536192"/>
            <a:ext cx="0" cy="749808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18" name="Text 15"/>
          <p:cNvSpPr/>
          <p:nvPr/>
        </p:nvSpPr>
        <p:spPr>
          <a:xfrm>
            <a:off x="3035808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pop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754880" y="11704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Operations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754880" y="1627632"/>
            <a:ext cx="3840480" cy="512064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754880" y="1627632"/>
            <a:ext cx="64008" cy="5120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3" name="Text 20"/>
          <p:cNvSpPr/>
          <p:nvPr/>
        </p:nvSpPr>
        <p:spPr>
          <a:xfrm>
            <a:off x="4892040" y="1627632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push(item)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46520" y="1627632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 to TOP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2249424"/>
            <a:ext cx="3840480" cy="512064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54880" y="2249424"/>
            <a:ext cx="64008" cy="512064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27" name="Text 24"/>
          <p:cNvSpPr/>
          <p:nvPr/>
        </p:nvSpPr>
        <p:spPr>
          <a:xfrm>
            <a:off x="4892040" y="2249424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pop()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2249424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 return TOP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54880" y="2871216"/>
            <a:ext cx="3840480" cy="512064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2871216"/>
            <a:ext cx="64008" cy="5120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8"/>
          <p:cNvSpPr/>
          <p:nvPr/>
        </p:nvSpPr>
        <p:spPr>
          <a:xfrm>
            <a:off x="4892040" y="2871216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peek()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46520" y="2871216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 without removing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54880" y="3493008"/>
            <a:ext cx="3840480" cy="512064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754880" y="3493008"/>
            <a:ext cx="64008" cy="5120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2"/>
          <p:cNvSpPr/>
          <p:nvPr/>
        </p:nvSpPr>
        <p:spPr>
          <a:xfrm>
            <a:off x="4892040" y="3493008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is_empty()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46520" y="3493008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stack has 0 items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754880" y="4114800"/>
            <a:ext cx="3840480" cy="512064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54880" y="4114800"/>
            <a:ext cx="64008" cy="5120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9" name="Text 36"/>
          <p:cNvSpPr/>
          <p:nvPr/>
        </p:nvSpPr>
        <p:spPr>
          <a:xfrm>
            <a:off x="4892040" y="4114800"/>
            <a:ext cx="1508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size()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6446520" y="4114800"/>
            <a:ext cx="2148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elements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4754880" y="47731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O(1) for all operations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36576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0">
            <a:hlinkClick r:id="rId2" tooltip="" action="ppaction://hlinksldjump"/>
          </p:cNvPr>
          <p:cNvSpPr/>
          <p:nvPr/>
        </p:nvSpPr>
        <p:spPr>
          <a:xfrm>
            <a:off x="365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Problem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40664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2">
            <a:hlinkClick r:id="rId3" tooltip="" action="ppaction://hlinksldjump"/>
          </p:cNvPr>
          <p:cNvSpPr/>
          <p:nvPr/>
        </p:nvSpPr>
        <p:spPr>
          <a:xfrm>
            <a:off x="740664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Algorithm &gt;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— How It Works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logic using a stack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8412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097280"/>
            <a:ext cx="1005840" cy="67665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6"/>
          <p:cNvSpPr/>
          <p:nvPr/>
        </p:nvSpPr>
        <p:spPr>
          <a:xfrm>
            <a:off x="365760" y="1097280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463040" y="1097280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the expression left to right, character by character.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65760" y="1856232"/>
            <a:ext cx="8412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856232"/>
            <a:ext cx="1005840" cy="6766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1856232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463040" y="1856232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character is an opening symbol  (  [  {  → PUSH it (with position) onto the stack.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65760" y="2615184"/>
            <a:ext cx="8412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2615184"/>
            <a:ext cx="1005840" cy="676656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17" name="Text 14"/>
          <p:cNvSpPr/>
          <p:nvPr/>
        </p:nvSpPr>
        <p:spPr>
          <a:xfrm>
            <a:off x="365760" y="2615184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463040" y="2615184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character is a closing symbol  )  ]  }  →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a) Stack empty? → Unmatched closer error.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b) Top doesn't match? → Mismatch error.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c) Match! → POP the opener.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3374136"/>
            <a:ext cx="8412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3374136"/>
            <a:ext cx="1005840" cy="6766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3374136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463040" y="3374136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full scan — stack not empty? → Unclosed opener(s) remain. Report error.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5760" y="4133088"/>
            <a:ext cx="841248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4133088"/>
            <a:ext cx="1005840" cy="67665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2"/>
          <p:cNvSpPr/>
          <p:nvPr/>
        </p:nvSpPr>
        <p:spPr>
          <a:xfrm>
            <a:off x="365760" y="4133088"/>
            <a:ext cx="1005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463040" y="413308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is empty after full scan? → Expression is BALANCED ✅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365760" y="481888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0EA5E9"/>
          </a:solidFill>
          <a:ln/>
        </p:spPr>
      </p:sp>
      <p:sp>
        <p:nvSpPr>
          <p:cNvPr id="28" name="Text 25"/>
          <p:cNvSpPr/>
          <p:nvPr/>
        </p:nvSpPr>
        <p:spPr>
          <a:xfrm>
            <a:off x="365760" y="4818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</a:rPr>
              <a:t>Time: O(n)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194560" y="4818888"/>
            <a:ext cx="1600200" cy="27432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/>
        </p:spPr>
      </p:sp>
      <p:sp>
        <p:nvSpPr>
          <p:cNvPr id="30" name="Text 27"/>
          <p:cNvSpPr/>
          <p:nvPr/>
        </p:nvSpPr>
        <p:spPr>
          <a:xfrm>
            <a:off x="2194560" y="48188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340"/>
                </a:solidFill>
              </a:rPr>
              <a:t>Space: O(n)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6576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29">
            <a:hlinkClick r:id="rId2" tooltip="" action="ppaction://hlinksldjump"/>
          </p:cNvPr>
          <p:cNvSpPr/>
          <p:nvPr/>
        </p:nvSpPr>
        <p:spPr>
          <a:xfrm>
            <a:off x="365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Stack DS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40664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Text 31">
            <a:hlinkClick r:id="rId3" tooltip="" action="ppaction://hlinksldjump"/>
          </p:cNvPr>
          <p:cNvSpPr/>
          <p:nvPr/>
        </p:nvSpPr>
        <p:spPr>
          <a:xfrm>
            <a:off x="740664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Code &gt;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class  +  is_balanced() function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28600" y="987552"/>
            <a:ext cx="4160520" cy="3977640"/>
          </a:xfrm>
          <a:prstGeom prst="rect">
            <a:avLst/>
          </a:prstGeom>
          <a:solidFill>
            <a:srgbClr val="060D2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8600" y="987552"/>
            <a:ext cx="4160520" cy="320040"/>
          </a:xfrm>
          <a:prstGeom prst="rect">
            <a:avLst/>
          </a:prstGeom>
          <a:solidFill>
            <a:srgbClr val="0F2055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" y="9875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 Class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1344168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20040" y="1536192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40" y="1728216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__init__(self):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20040" y="1920240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self._data = []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2304288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push(self, item):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20040" y="2496312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self._data.append(item)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20040" y="2880360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pop(self):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3072384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self.is_empty():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20040" y="3264408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raise IndexError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320040" y="3456432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self._data.pop()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3840480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peek(self):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20040" y="4032504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self._data[-1]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20040" y="4224528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is_empty(self):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20040" y="4416552"/>
            <a:ext cx="3931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len(self._data)==0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09160" y="987552"/>
            <a:ext cx="4160520" cy="3977640"/>
          </a:xfrm>
          <a:prstGeom prst="rect">
            <a:avLst/>
          </a:prstGeom>
          <a:solidFill>
            <a:srgbClr val="060D28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09160" y="987552"/>
            <a:ext cx="4160520" cy="320040"/>
          </a:xfrm>
          <a:prstGeom prst="rect">
            <a:avLst/>
          </a:prstGeom>
          <a:solidFill>
            <a:srgbClr val="0F2055"/>
          </a:solidFill>
          <a:ln/>
        </p:spPr>
      </p:sp>
      <p:sp>
        <p:nvSpPr>
          <p:cNvPr id="26" name="Text 23"/>
          <p:cNvSpPr/>
          <p:nvPr/>
        </p:nvSpPr>
        <p:spPr>
          <a:xfrm>
            <a:off x="4709160" y="98755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is_balanced() function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00600" y="134416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MATCH={')':'(',']':'[','}':'{'}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800600" y="172821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is_balanced(expr):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800600" y="192024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stack = Stack()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800600" y="2112264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i, ch in enumerate(expr):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800600" y="230428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 in '([{':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800600" y="249631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stack.push((ch, i))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800600" y="268833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ch in ')]}':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800600" y="288036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stack.is_empty():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800600" y="3072384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False,'Unmatched'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4800600" y="326440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top,_=stack.pop()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800600" y="3456432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top!=MATCH[ch]: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800600" y="3648456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False,'Mismatch'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800600" y="3840480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stack.is_empty():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4800600" y="4032504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False,'Unclosed'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4800600" y="4224528"/>
            <a:ext cx="397764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True,'Balanced' ✅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6576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Text 40">
            <a:hlinkClick r:id="rId2" tooltip="" action="ppaction://hlinksldjump"/>
          </p:cNvPr>
          <p:cNvSpPr/>
          <p:nvPr/>
        </p:nvSpPr>
        <p:spPr>
          <a:xfrm>
            <a:off x="365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Algorithm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40664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2">
            <a:hlinkClick r:id="rId3" tooltip="" action="ppaction://hlinksldjump"/>
          </p:cNvPr>
          <p:cNvSpPr/>
          <p:nvPr/>
        </p:nvSpPr>
        <p:spPr>
          <a:xfrm>
            <a:off x="740664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Walkthrough &gt;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Walkthrough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expression:  " ( { [ ] } ) "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320040" y="987552"/>
            <a:ext cx="868680" cy="38404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8" name="Text 5"/>
          <p:cNvSpPr/>
          <p:nvPr/>
        </p:nvSpPr>
        <p:spPr>
          <a:xfrm>
            <a:off x="320040" y="98755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325880" y="987552"/>
            <a:ext cx="2514600" cy="38404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10" name="Text 7"/>
          <p:cNvSpPr/>
          <p:nvPr/>
        </p:nvSpPr>
        <p:spPr>
          <a:xfrm>
            <a:off x="1325880" y="987552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77640" y="987552"/>
            <a:ext cx="3291840" cy="38404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12" name="Text 9"/>
          <p:cNvSpPr/>
          <p:nvPr/>
        </p:nvSpPr>
        <p:spPr>
          <a:xfrm>
            <a:off x="3977640" y="98755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State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06640" y="987552"/>
            <a:ext cx="1554480" cy="384048"/>
          </a:xfrm>
          <a:prstGeom prst="rect">
            <a:avLst/>
          </a:prstGeom>
          <a:solidFill>
            <a:srgbClr val="1A1F5E"/>
          </a:solidFill>
          <a:ln/>
        </p:spPr>
      </p:sp>
      <p:sp>
        <p:nvSpPr>
          <p:cNvPr id="14" name="Text 11"/>
          <p:cNvSpPr/>
          <p:nvPr/>
        </p:nvSpPr>
        <p:spPr>
          <a:xfrm>
            <a:off x="7406640" y="987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20040" y="1444752"/>
            <a:ext cx="86868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6" name="Shape 13"/>
          <p:cNvSpPr/>
          <p:nvPr/>
        </p:nvSpPr>
        <p:spPr>
          <a:xfrm>
            <a:off x="1325880" y="1444752"/>
            <a:ext cx="251460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7" name="Shape 14"/>
          <p:cNvSpPr/>
          <p:nvPr/>
        </p:nvSpPr>
        <p:spPr>
          <a:xfrm>
            <a:off x="3977640" y="1444752"/>
            <a:ext cx="329184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8" name="Shape 15"/>
          <p:cNvSpPr/>
          <p:nvPr/>
        </p:nvSpPr>
        <p:spPr>
          <a:xfrm>
            <a:off x="7406640" y="1444752"/>
            <a:ext cx="155448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19" name="Shape 16"/>
          <p:cNvSpPr/>
          <p:nvPr/>
        </p:nvSpPr>
        <p:spPr>
          <a:xfrm>
            <a:off x="320040" y="1444752"/>
            <a:ext cx="64008" cy="429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1444752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325880" y="1444752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 (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977640" y="1444752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 ]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406640" y="144475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0040" y="1920240"/>
            <a:ext cx="86868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5" name="Shape 22"/>
          <p:cNvSpPr/>
          <p:nvPr/>
        </p:nvSpPr>
        <p:spPr>
          <a:xfrm>
            <a:off x="1325880" y="1920240"/>
            <a:ext cx="251460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Shape 23"/>
          <p:cNvSpPr/>
          <p:nvPr/>
        </p:nvSpPr>
        <p:spPr>
          <a:xfrm>
            <a:off x="3977640" y="1920240"/>
            <a:ext cx="329184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Shape 24"/>
          <p:cNvSpPr/>
          <p:nvPr/>
        </p:nvSpPr>
        <p:spPr>
          <a:xfrm>
            <a:off x="7406640" y="1920240"/>
            <a:ext cx="155448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Shape 25"/>
          <p:cNvSpPr/>
          <p:nvPr/>
        </p:nvSpPr>
        <p:spPr>
          <a:xfrm>
            <a:off x="320040" y="1920240"/>
            <a:ext cx="64008" cy="429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9" name="Text 26"/>
          <p:cNvSpPr/>
          <p:nvPr/>
        </p:nvSpPr>
        <p:spPr>
          <a:xfrm>
            <a:off x="320040" y="1920240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1325880" y="1920240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 {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977640" y="1920240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(, { ]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406640" y="192024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320040" y="2395728"/>
            <a:ext cx="86868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4" name="Shape 31"/>
          <p:cNvSpPr/>
          <p:nvPr/>
        </p:nvSpPr>
        <p:spPr>
          <a:xfrm>
            <a:off x="1325880" y="2395728"/>
            <a:ext cx="251460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5" name="Shape 32"/>
          <p:cNvSpPr/>
          <p:nvPr/>
        </p:nvSpPr>
        <p:spPr>
          <a:xfrm>
            <a:off x="3977640" y="2395728"/>
            <a:ext cx="329184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6" name="Shape 33"/>
          <p:cNvSpPr/>
          <p:nvPr/>
        </p:nvSpPr>
        <p:spPr>
          <a:xfrm>
            <a:off x="7406640" y="2395728"/>
            <a:ext cx="155448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37" name="Shape 34"/>
          <p:cNvSpPr/>
          <p:nvPr/>
        </p:nvSpPr>
        <p:spPr>
          <a:xfrm>
            <a:off x="320040" y="2395728"/>
            <a:ext cx="64008" cy="4297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8" name="Text 35"/>
          <p:cNvSpPr/>
          <p:nvPr/>
        </p:nvSpPr>
        <p:spPr>
          <a:xfrm>
            <a:off x="320040" y="2395728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1325880" y="2395728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  [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3977640" y="2395728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(, {, [ ]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7406640" y="2395728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320040" y="2871216"/>
            <a:ext cx="868680" cy="42976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3" name="Shape 40"/>
          <p:cNvSpPr/>
          <p:nvPr/>
        </p:nvSpPr>
        <p:spPr>
          <a:xfrm>
            <a:off x="1325880" y="2871216"/>
            <a:ext cx="2514600" cy="42976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4" name="Shape 41"/>
          <p:cNvSpPr/>
          <p:nvPr/>
        </p:nvSpPr>
        <p:spPr>
          <a:xfrm>
            <a:off x="3977640" y="2871216"/>
            <a:ext cx="3291840" cy="42976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5" name="Shape 42"/>
          <p:cNvSpPr/>
          <p:nvPr/>
        </p:nvSpPr>
        <p:spPr>
          <a:xfrm>
            <a:off x="7406640" y="2871216"/>
            <a:ext cx="1554480" cy="429768"/>
          </a:xfrm>
          <a:prstGeom prst="rect">
            <a:avLst/>
          </a:prstGeom>
          <a:solidFill>
            <a:srgbClr val="F1F8E9"/>
          </a:solidFill>
          <a:ln/>
        </p:spPr>
      </p:sp>
      <p:sp>
        <p:nvSpPr>
          <p:cNvPr id="46" name="Shape 43"/>
          <p:cNvSpPr/>
          <p:nvPr/>
        </p:nvSpPr>
        <p:spPr>
          <a:xfrm>
            <a:off x="320040" y="2871216"/>
            <a:ext cx="64008" cy="42976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47" name="Text 44"/>
          <p:cNvSpPr/>
          <p:nvPr/>
        </p:nvSpPr>
        <p:spPr>
          <a:xfrm>
            <a:off x="320040" y="2871216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325880" y="2871216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 [ ↔ ] ✓ match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3977640" y="2871216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(, { ]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7406640" y="2871216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320040" y="3346704"/>
            <a:ext cx="86868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2" name="Shape 49"/>
          <p:cNvSpPr/>
          <p:nvPr/>
        </p:nvSpPr>
        <p:spPr>
          <a:xfrm>
            <a:off x="1325880" y="3346704"/>
            <a:ext cx="251460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3346704"/>
            <a:ext cx="329184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4" name="Shape 51"/>
          <p:cNvSpPr/>
          <p:nvPr/>
        </p:nvSpPr>
        <p:spPr>
          <a:xfrm>
            <a:off x="7406640" y="3346704"/>
            <a:ext cx="1554480" cy="429768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5" name="Shape 52"/>
          <p:cNvSpPr/>
          <p:nvPr/>
        </p:nvSpPr>
        <p:spPr>
          <a:xfrm>
            <a:off x="320040" y="3346704"/>
            <a:ext cx="64008" cy="42976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56" name="Text 53"/>
          <p:cNvSpPr/>
          <p:nvPr/>
        </p:nvSpPr>
        <p:spPr>
          <a:xfrm>
            <a:off x="320040" y="3346704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7" name="Text 54"/>
          <p:cNvSpPr/>
          <p:nvPr/>
        </p:nvSpPr>
        <p:spPr>
          <a:xfrm>
            <a:off x="1325880" y="3346704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 { ↔ } ✓ match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3977640" y="3346704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( ]</a:t>
            </a:r>
            <a:endParaRPr lang="en-US" sz="1100" dirty="0"/>
          </a:p>
        </p:txBody>
      </p:sp>
      <p:sp>
        <p:nvSpPr>
          <p:cNvPr id="59" name="Text 56"/>
          <p:cNvSpPr/>
          <p:nvPr/>
        </p:nvSpPr>
        <p:spPr>
          <a:xfrm>
            <a:off x="7406640" y="3346704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320040" y="3822192"/>
            <a:ext cx="86868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1" name="Shape 58"/>
          <p:cNvSpPr/>
          <p:nvPr/>
        </p:nvSpPr>
        <p:spPr>
          <a:xfrm>
            <a:off x="1325880" y="3822192"/>
            <a:ext cx="251460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2" name="Shape 59"/>
          <p:cNvSpPr/>
          <p:nvPr/>
        </p:nvSpPr>
        <p:spPr>
          <a:xfrm>
            <a:off x="3977640" y="3822192"/>
            <a:ext cx="329184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3" name="Shape 60"/>
          <p:cNvSpPr/>
          <p:nvPr/>
        </p:nvSpPr>
        <p:spPr>
          <a:xfrm>
            <a:off x="7406640" y="3822192"/>
            <a:ext cx="1554480" cy="429768"/>
          </a:xfrm>
          <a:prstGeom prst="rect">
            <a:avLst/>
          </a:prstGeom>
          <a:solidFill>
            <a:srgbClr val="E0F7FA"/>
          </a:solidFill>
          <a:ln/>
        </p:spPr>
      </p:sp>
      <p:sp>
        <p:nvSpPr>
          <p:cNvPr id="64" name="Shape 61"/>
          <p:cNvSpPr/>
          <p:nvPr/>
        </p:nvSpPr>
        <p:spPr>
          <a:xfrm>
            <a:off x="320040" y="3822192"/>
            <a:ext cx="64008" cy="429768"/>
          </a:xfrm>
          <a:prstGeom prst="rect">
            <a:avLst/>
          </a:prstGeom>
          <a:solidFill>
            <a:srgbClr val="84CC16"/>
          </a:solidFill>
          <a:ln/>
        </p:spPr>
      </p:sp>
      <p:sp>
        <p:nvSpPr>
          <p:cNvPr id="65" name="Text 62"/>
          <p:cNvSpPr/>
          <p:nvPr/>
        </p:nvSpPr>
        <p:spPr>
          <a:xfrm>
            <a:off x="320040" y="3822192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1325880" y="3822192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  ( ↔ ) ✓ match</a:t>
            </a:r>
            <a:endParaRPr lang="en-US" sz="1100" dirty="0"/>
          </a:p>
        </p:txBody>
      </p:sp>
      <p:sp>
        <p:nvSpPr>
          <p:cNvPr id="67" name="Text 64"/>
          <p:cNvSpPr/>
          <p:nvPr/>
        </p:nvSpPr>
        <p:spPr>
          <a:xfrm>
            <a:off x="3977640" y="3822192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empty ]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7406640" y="3822192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69" name="Shape 66"/>
          <p:cNvSpPr/>
          <p:nvPr/>
        </p:nvSpPr>
        <p:spPr>
          <a:xfrm>
            <a:off x="320040" y="4297680"/>
            <a:ext cx="868680" cy="42976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0" name="Shape 67"/>
          <p:cNvSpPr/>
          <p:nvPr/>
        </p:nvSpPr>
        <p:spPr>
          <a:xfrm>
            <a:off x="1325880" y="4297680"/>
            <a:ext cx="2514600" cy="42976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1" name="Shape 68"/>
          <p:cNvSpPr/>
          <p:nvPr/>
        </p:nvSpPr>
        <p:spPr>
          <a:xfrm>
            <a:off x="3977640" y="4297680"/>
            <a:ext cx="3291840" cy="42976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2" name="Shape 69"/>
          <p:cNvSpPr/>
          <p:nvPr/>
        </p:nvSpPr>
        <p:spPr>
          <a:xfrm>
            <a:off x="7406640" y="4297680"/>
            <a:ext cx="1554480" cy="429768"/>
          </a:xfrm>
          <a:prstGeom prst="rect">
            <a:avLst/>
          </a:prstGeom>
          <a:solidFill>
            <a:srgbClr val="C8E6C9"/>
          </a:solidFill>
          <a:ln/>
        </p:spPr>
      </p:sp>
      <p:sp>
        <p:nvSpPr>
          <p:cNvPr id="73" name="Shape 70"/>
          <p:cNvSpPr/>
          <p:nvPr/>
        </p:nvSpPr>
        <p:spPr>
          <a:xfrm>
            <a:off x="320040" y="4297680"/>
            <a:ext cx="64008" cy="4297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4" name="Text 71"/>
          <p:cNvSpPr/>
          <p:nvPr/>
        </p:nvSpPr>
        <p:spPr>
          <a:xfrm>
            <a:off x="320040" y="4297680"/>
            <a:ext cx="868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500" dirty="0"/>
          </a:p>
        </p:txBody>
      </p:sp>
      <p:sp>
        <p:nvSpPr>
          <p:cNvPr id="75" name="Text 72"/>
          <p:cNvSpPr/>
          <p:nvPr/>
        </p:nvSpPr>
        <p:spPr>
          <a:xfrm>
            <a:off x="1325880" y="4297680"/>
            <a:ext cx="251460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empty → BALANCED</a:t>
            </a:r>
            <a:endParaRPr lang="en-US" sz="1100" dirty="0"/>
          </a:p>
        </p:txBody>
      </p:sp>
      <p:sp>
        <p:nvSpPr>
          <p:cNvPr id="76" name="Text 73"/>
          <p:cNvSpPr/>
          <p:nvPr/>
        </p:nvSpPr>
        <p:spPr>
          <a:xfrm>
            <a:off x="3977640" y="4297680"/>
            <a:ext cx="3291840" cy="4297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7406640" y="4297680"/>
            <a:ext cx="15544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BALANCED</a:t>
            </a:r>
            <a:endParaRPr lang="en-US" sz="1200" dirty="0"/>
          </a:p>
        </p:txBody>
      </p:sp>
      <p:sp>
        <p:nvSpPr>
          <p:cNvPr id="78" name="Shape 75"/>
          <p:cNvSpPr/>
          <p:nvPr/>
        </p:nvSpPr>
        <p:spPr>
          <a:xfrm>
            <a:off x="36576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9" name="Text 76">
            <a:hlinkClick r:id="rId2" tooltip="" action="ppaction://hlinksldjump"/>
          </p:cNvPr>
          <p:cNvSpPr/>
          <p:nvPr/>
        </p:nvSpPr>
        <p:spPr>
          <a:xfrm>
            <a:off x="365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Code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740664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Text 78">
            <a:hlinkClick r:id="rId3" tooltip="" action="ppaction://hlinksldjump"/>
          </p:cNvPr>
          <p:cNvSpPr/>
          <p:nvPr/>
        </p:nvSpPr>
        <p:spPr>
          <a:xfrm>
            <a:off x="740664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Test Cases &gt;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Results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test cases passed ✅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5669280" cy="393192"/>
          </a:xfrm>
          <a:prstGeom prst="rect">
            <a:avLst/>
          </a:prstGeom>
          <a:solidFill>
            <a:srgbClr val="0A20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11480" y="10789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({[]})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6280" y="10789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Balanced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" y="1536192"/>
            <a:ext cx="5669280" cy="393192"/>
          </a:xfrm>
          <a:prstGeom prst="rect">
            <a:avLst/>
          </a:prstGeom>
          <a:solidFill>
            <a:srgbClr val="0A20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1480" y="15361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{[()]}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26280" y="15361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Balanced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993392"/>
            <a:ext cx="5669280" cy="393192"/>
          </a:xfrm>
          <a:prstGeom prst="rect">
            <a:avLst/>
          </a:prstGeom>
          <a:solidFill>
            <a:srgbClr val="0A20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11480" y="19933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a+(b*c)-[d/{e}]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26280" y="19933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Balanced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2450592"/>
            <a:ext cx="5669280" cy="393192"/>
          </a:xfrm>
          <a:prstGeom prst="rect">
            <a:avLst/>
          </a:prstGeom>
          <a:solidFill>
            <a:srgbClr val="0A2040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11480" y="24505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if(x){return[x];}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24505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Balanced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2907792"/>
            <a:ext cx="5669280" cy="393192"/>
          </a:xfrm>
          <a:prstGeom prst="rect">
            <a:avLst/>
          </a:prstGeom>
          <a:solidFill>
            <a:srgbClr val="260D0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11480" y="29077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26280" y="29077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Mismatch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364992"/>
            <a:ext cx="5669280" cy="393192"/>
          </a:xfrm>
          <a:prstGeom prst="rect">
            <a:avLst/>
          </a:prstGeom>
          <a:solidFill>
            <a:srgbClr val="260D0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11480" y="33649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(((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526280" y="33649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Unclosed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74320" y="3822192"/>
            <a:ext cx="5669280" cy="393192"/>
          </a:xfrm>
          <a:prstGeom prst="rect">
            <a:avLst/>
          </a:prstGeom>
          <a:solidFill>
            <a:srgbClr val="260D0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11480" y="38221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26280" y="38221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Unmatched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" y="4279392"/>
            <a:ext cx="5669280" cy="393192"/>
          </a:xfrm>
          <a:prstGeom prst="rect">
            <a:avLst/>
          </a:prstGeom>
          <a:solidFill>
            <a:srgbClr val="260D0D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411480" y="4279392"/>
            <a:ext cx="41148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{[}]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26280" y="4279392"/>
            <a:ext cx="14173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Mismatch</a:t>
            </a:r>
            <a:endParaRPr lang="en-US" sz="11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035040" y="1051560"/>
          <a:ext cx="2834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Shape 28"/>
          <p:cNvSpPr/>
          <p:nvPr/>
        </p:nvSpPr>
        <p:spPr>
          <a:xfrm>
            <a:off x="274320" y="4315968"/>
            <a:ext cx="2011680" cy="59436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27432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274320" y="4599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2468880" y="4315968"/>
            <a:ext cx="2011680" cy="59436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246888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7" name="Text 33"/>
          <p:cNvSpPr/>
          <p:nvPr/>
        </p:nvSpPr>
        <p:spPr>
          <a:xfrm>
            <a:off x="2468880" y="4599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900" dirty="0"/>
          </a:p>
        </p:txBody>
      </p:sp>
      <p:sp>
        <p:nvSpPr>
          <p:cNvPr id="38" name="Shape 34"/>
          <p:cNvSpPr/>
          <p:nvPr/>
        </p:nvSpPr>
        <p:spPr>
          <a:xfrm>
            <a:off x="4663440" y="4315968"/>
            <a:ext cx="2011680" cy="59436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5"/>
          <p:cNvSpPr/>
          <p:nvPr/>
        </p:nvSpPr>
        <p:spPr>
          <a:xfrm>
            <a:off x="466344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0" name="Text 36"/>
          <p:cNvSpPr/>
          <p:nvPr/>
        </p:nvSpPr>
        <p:spPr>
          <a:xfrm>
            <a:off x="4663440" y="4599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Balanced</a:t>
            </a:r>
            <a:endParaRPr lang="en-US" sz="900" dirty="0"/>
          </a:p>
        </p:txBody>
      </p:sp>
      <p:sp>
        <p:nvSpPr>
          <p:cNvPr id="41" name="Shape 37"/>
          <p:cNvSpPr/>
          <p:nvPr/>
        </p:nvSpPr>
        <p:spPr>
          <a:xfrm>
            <a:off x="6858000" y="4315968"/>
            <a:ext cx="2011680" cy="59436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38"/>
          <p:cNvSpPr/>
          <p:nvPr/>
        </p:nvSpPr>
        <p:spPr>
          <a:xfrm>
            <a:off x="6858000" y="4343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000" dirty="0"/>
          </a:p>
        </p:txBody>
      </p:sp>
      <p:sp>
        <p:nvSpPr>
          <p:cNvPr id="43" name="Text 39"/>
          <p:cNvSpPr/>
          <p:nvPr/>
        </p:nvSpPr>
        <p:spPr>
          <a:xfrm>
            <a:off x="6858000" y="45994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44" name="Shape 40"/>
          <p:cNvSpPr/>
          <p:nvPr/>
        </p:nvSpPr>
        <p:spPr>
          <a:xfrm>
            <a:off x="36576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1">
            <a:hlinkClick r:id="rId3" tooltip="" action="ppaction://hlinksldjump"/>
          </p:cNvPr>
          <p:cNvSpPr/>
          <p:nvPr/>
        </p:nvSpPr>
        <p:spPr>
          <a:xfrm>
            <a:off x="36576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&lt; Walkthrough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7406640" y="4828032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1A1F5E"/>
          </a:solidFill>
          <a:ln/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Text 43">
            <a:hlinkClick r:id="rId4" tooltip="" action="ppaction://hlinksldjump"/>
          </p:cNvPr>
          <p:cNvSpPr/>
          <p:nvPr/>
        </p:nvSpPr>
        <p:spPr>
          <a:xfrm>
            <a:off x="7406640" y="4828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22D3EE"/>
                </a:solidFill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Next: Summary &gt;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F2055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F205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34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645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914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22960" y="521208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the project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0" y="6583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arrow keys or click to navigate  →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4206240" cy="100584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109728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8448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51560" y="1188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Class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51560" y="15361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stack built using Python list with push, pop, peek, is_empty, size.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9160" y="1097280"/>
            <a:ext cx="4206240" cy="1005840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9160" y="1097280"/>
            <a:ext cx="73152" cy="1005840"/>
          </a:xfrm>
          <a:prstGeom prst="rect">
            <a:avLst/>
          </a:prstGeom>
          <a:solidFill>
            <a:srgbClr val="0EA5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9844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11887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486400" y="153619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O(n) scan: push openers, match closers, detect all 3 error types.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2286000"/>
            <a:ext cx="4206240" cy="100584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286000"/>
            <a:ext cx="73152" cy="10058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487168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Detection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051560" y="27249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unmatched closers, mismatched pairs, and unclosed openers with position info.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709160" y="2286000"/>
            <a:ext cx="4206240" cy="1005840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09160" y="2286000"/>
            <a:ext cx="73152" cy="1005840"/>
          </a:xfrm>
          <a:prstGeom prst="rect">
            <a:avLst/>
          </a:prstGeom>
          <a:solidFill>
            <a:srgbClr val="84CC1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487168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237744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0" y="272491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O(n)  |  Space: O(n)  — efficient for any expression length.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0F2055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4320" y="3474720"/>
            <a:ext cx="73152" cy="100584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75888"/>
            <a:ext cx="502920" cy="5029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51560" y="3566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1051560" y="3913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test cases pass — balanced and all error types verified.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709160" y="3474720"/>
            <a:ext cx="4206240" cy="1005840"/>
          </a:xfrm>
          <a:prstGeom prst="rect">
            <a:avLst/>
          </a:prstGeom>
          <a:solidFill>
            <a:srgbClr val="162B6E"/>
          </a:solidFill>
          <a:ln/>
          <a:effectLst>
            <a:outerShdw sx="100000" sy="100000" kx="0" ky="0" algn="bl" rotWithShape="0" blurRad="127000" dist="50800" dir="8100000">
              <a:srgbClr val="00000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709160" y="3474720"/>
            <a:ext cx="73152" cy="1005840"/>
          </a:xfrm>
          <a:prstGeom prst="rect">
            <a:avLst/>
          </a:prstGeom>
          <a:solidFill>
            <a:srgbClr val="22D3E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3675888"/>
            <a:ext cx="502920" cy="5029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86400" y="35661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Menu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5486400" y="391363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1: custom input  ·  Option 2: run test suite  ·  Option 3: exit.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F2055"/>
          </a:solidFill>
          <a:ln/>
        </p:spPr>
      </p:sp>
      <p:sp>
        <p:nvSpPr>
          <p:cNvPr id="40" name="Text 31"/>
          <p:cNvSpPr/>
          <p:nvPr/>
        </p:nvSpPr>
        <p:spPr>
          <a:xfrm>
            <a:off x="0" y="47548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—  Stack-Based Balanced Parenthesis Checker  |  Python Project</a:t>
            </a:r>
            <a:endParaRPr lang="en-US" sz="1100" dirty="0"/>
          </a:p>
        </p:txBody>
      </p:sp>
      <p:sp>
        <p:nvSpPr>
          <p:cNvPr id="41" name="Text 32">
            <a:hlinkClick r:id="rId8" tooltip="" action="ppaction://hlinksldjump"/>
          </p:cNvPr>
          <p:cNvSpPr/>
          <p:nvPr/>
        </p:nvSpPr>
        <p:spPr>
          <a:xfrm>
            <a:off x="7772400" y="475488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⬅ Home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Stack-Based Balanced Parenthesis Checker</dc:title>
  <dc:subject>PptxGenJS Presentation</dc:subject>
  <dc:creator>Ashish</dc:creator>
  <cp:lastModifiedBy>Ashish</cp:lastModifiedBy>
  <cp:revision>1</cp:revision>
  <dcterms:created xsi:type="dcterms:W3CDTF">2026-04-01T06:08:01Z</dcterms:created>
  <dcterms:modified xsi:type="dcterms:W3CDTF">2026-04-01T06:08:01Z</dcterms:modified>
</cp:coreProperties>
</file>